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11.png" ContentType="image/png"/>
  <Override PartName="/ppt/media/image8.png" ContentType="image/png"/>
  <Override PartName="/ppt/media/image10.png" ContentType="image/png"/>
  <Override PartName="/ppt/media/image9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_rels/slide18.xml.rels" ContentType="application/vnd.openxmlformats-package.relationships+xml"/>
  <Override PartName="/ppt/slides/_rels/slide1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9FE81D1-1F13-4801-B82F-91A54B1777D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B2445FA-EE97-42E1-A4C8-A34E6364ECB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043B4A4-6F79-4FF1-BC15-AFE8B6687E1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30584CE-EEF7-409C-A77E-336804EF050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4E1B0E-08D2-401B-BA2D-47A854AED51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82F5522-3104-4179-9BFA-F16285B23E5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BD8277F-0FB2-465E-8D43-533079639A0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20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1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1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C470985-4F56-4780-88A8-AF8F273410F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C55A0C-D0F6-4A88-AEA9-258BB2D9023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67248A-577D-4C24-A1B9-6A24FAFAD8F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FA3EAF9-571A-4217-AEED-16273463AAD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GB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457200" y="78876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Sistema de Roteamento Multimodal</a:t>
            </a:r>
            <a:endParaRPr b="0" lang="en-GB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457200" y="3060000"/>
            <a:ext cx="822816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Otimização Multi-Objetivo para a Área Metropolitana do Porto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410760" y="5220000"/>
            <a:ext cx="8228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Grupo 6 - CIN 2025/2026</a:t>
            </a: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Universidade do Minho</a:t>
            </a:r>
            <a:endParaRPr b="0" lang="en-GB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332000" y="4500000"/>
            <a:ext cx="323892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992"/>
              </a:spcAft>
            </a:pPr>
            <a:r>
              <a:rPr b="0" lang="en-GB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PG11605 - Carlos da Mota Bergueira 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992"/>
              </a:spcAft>
            </a:pPr>
            <a:r>
              <a:rPr b="0" lang="en-GB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PG59999 - Diego Jefferson Mendes Silva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004000" y="4500000"/>
            <a:ext cx="3238920" cy="58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283"/>
              </a:spcBef>
              <a:spcAft>
                <a:spcPts val="992"/>
              </a:spcAft>
            </a:pPr>
            <a:r>
              <a:rPr b="0" lang="en-GB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PG42201 - Filipa Araújo Pereira 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283"/>
              </a:spcBef>
              <a:spcAft>
                <a:spcPts val="992"/>
              </a:spcAft>
            </a:pPr>
            <a:r>
              <a:rPr b="0" lang="en-GB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PG7942 - Rui Manuel Martins Marques Rodrigues</a:t>
            </a:r>
            <a:endParaRPr b="0" lang="en-GB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Índice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731520" y="1097280"/>
            <a:ext cx="7679520" cy="48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Visão Geral do Projeto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Arquitetura e Tecnologia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Algoritmos Implementados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Dados e Implementação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Avaliação e Testes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Resultados e Conclusões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Visão Geral do Projeto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731520" y="1097280"/>
            <a:ext cx="7679520" cy="48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🎯 Objetivo: Motor de roteamento multimodal inteligente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Critérios de Otimização: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⏱  Tempo de viagem (minimizar)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♻  Emissões de CO₂ (minimizar)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🚶  Exercício físico (maximizar)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📊 Resultado: Fronteira de Pareto com múltiplas rotas eficientes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1"/>
          <a:stretch/>
        </p:blipFill>
        <p:spPr>
          <a:xfrm>
            <a:off x="1800000" y="3595680"/>
            <a:ext cx="5028840" cy="306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Características Principais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731520" y="1097280"/>
            <a:ext cx="7679520" cy="326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Otimização Multi-Objetivo com fronteira Pareto rigorosa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Dados Reais: GTFS (Metro + STCP) + OSMnx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3 Algoritmos Avançados: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A* Heurístico (rápido)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Dijkstra Multi-Label (exaustivo, 100% garantido)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ACO Estocástico (criativo)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Análise Geográfica com ruas reais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22 Casos de Teste (trivial a extremo)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540000" y="4560120"/>
            <a:ext cx="8098920" cy="2098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Stack Tecnológico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731520" y="1097280"/>
            <a:ext cx="76795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Python 3.12+ - Linguagem principal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NetworkX 3.x - Estrutura de grafos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OSMnx 1.x - Dados geográficos (OpenStreetMap)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Pandas 2.x - Processamento GTFS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Folium 0.14+ - Visualização de mapas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NumPy 1.24+ - Cálculos numéricos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Poetry 2.0+ - Gestão de dependências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Arquitetura do Projeto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457200" y="100584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Componentes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457200" y="1463040"/>
            <a:ext cx="3839040" cy="43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services/ - Lógica de negócio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utils/ - Operações auxiliares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models/ - Estruturas de dados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algoritms/ - Implementações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graph.py - Rede multimodal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solution.py - Classe de solução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540000" y="360000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Algoritmos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6"/>
          <p:cNvSpPr/>
          <p:nvPr/>
        </p:nvSpPr>
        <p:spPr>
          <a:xfrm>
            <a:off x="540000" y="4140000"/>
            <a:ext cx="3839040" cy="43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a_star.py - Heurístico rápido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dijkstra.py - Exaustivo garantido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aco.py - Estocástico criativo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Cada retorna Fronteira Pareto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Comparação automática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Validação cruzada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5760000" y="1080000"/>
            <a:ext cx="1746720" cy="567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A* Multi-Objetivo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3"/>
          <p:cNvSpPr/>
          <p:nvPr/>
        </p:nvSpPr>
        <p:spPr>
          <a:xfrm>
            <a:off x="731520" y="1097280"/>
            <a:ext cx="7679520" cy="32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Tipo: Algoritmo heurístico guloso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Complexidade: O(E log V)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Características: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Utiliza heurísticas para guiar a busca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Prioriza nós promissores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Encontra rotas de boa qualidade rapidamente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✗ Não garante Fronteira Pareto completa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Ideal para: Aplicações em tempo real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1450440" y="4500000"/>
            <a:ext cx="5028480" cy="2076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Dijkstra Multi-Label (Exaustivo)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731520" y="1097280"/>
            <a:ext cx="7679520" cy="32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Tipo: Algoritmo de rótulo-setting multi-objetivo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Complexidade: O(E × L log V) onde L = nº de etiquetas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Características: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Mantém múltiplas etiquetas por nó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Propaga todas as soluções não-dominadas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Remove soluções dominadas iterativamente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GARANTE Fronteira de Pareto completa e exata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Ideal para: Gold standard de otimização multi-objetivo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" descr=""/>
          <p:cNvPicPr/>
          <p:nvPr/>
        </p:nvPicPr>
        <p:blipFill>
          <a:blip r:embed="rId1"/>
          <a:stretch/>
        </p:blipFill>
        <p:spPr>
          <a:xfrm>
            <a:off x="1450440" y="4395240"/>
            <a:ext cx="5388480" cy="226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ACO (Ant Colony Optimization)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731520" y="1097280"/>
            <a:ext cx="7679520" cy="323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Tipo: Algoritmo estocástico inspirado na natureza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Complexidade: O(I × A × E) - I iterações, A formigas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Características: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Simula comportamento coletivo de formigas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Cada formiga constrói uma solução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Atualiza feromónios baseado em qualidade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✗ Heurístico (pode não encontrar todas as soluções)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Ideal para: Exploração criativa e inovação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1440000" y="4488120"/>
            <a:ext cx="5398920" cy="217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Fontes de Dados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457200" y="100584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GTFS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457200" y="1463040"/>
            <a:ext cx="3839040" cy="43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🚇 Metro do Porto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• 95+ paragens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• 6 linhas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• Horários atualizados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🚌 STCP (Autocarro)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• 600+ paragens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• Múltiplas linhas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4846320" y="100584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OpenStreetMap (OSM)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4846320" y="1463040"/>
            <a:ext cx="3839040" cy="43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🗺 Rede viária completa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🚶 Caminhos pedonais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⏱ Velocidades estimadas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📍 Coordenadas geográficas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Cálculos Derivados: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• CO₂, transferências, caminhada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5" name="" descr=""/>
          <p:cNvPicPr/>
          <p:nvPr/>
        </p:nvPicPr>
        <p:blipFill>
          <a:blip r:embed="rId1"/>
          <a:stretch/>
        </p:blipFill>
        <p:spPr>
          <a:xfrm>
            <a:off x="662040" y="3780000"/>
            <a:ext cx="956880" cy="2878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2"/>
          <a:stretch/>
        </p:blipFill>
        <p:spPr>
          <a:xfrm>
            <a:off x="4500000" y="3780000"/>
            <a:ext cx="3981600" cy="285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Exemplo de Uso - Python API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180000" y="1080000"/>
            <a:ext cx="4847400" cy="47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from app.services.graph import GraphRoute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from app.services.algoritms.a_star import optimized_multi_objective_routing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graph = GraphRoute('Casa da Musica', 'Casino da Póvoa')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routes = optimized_multi_objective_routing(...)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for rota in routes: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    print(f'Tempo: {rota.total_time} min')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    print(f'CO2: {rota.total_co2}g')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    print(f'Caminhada: {rota.total_walk_km}km')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5940000" y="2957040"/>
            <a:ext cx="2158920" cy="190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5580000" y="1125720"/>
            <a:ext cx="2868480" cy="1753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5580000" y="4919400"/>
            <a:ext cx="2698920" cy="1739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Framework de Avaliação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3"/>
          <p:cNvSpPr/>
          <p:nvPr/>
        </p:nvSpPr>
        <p:spPr>
          <a:xfrm>
            <a:off x="60120" y="1197000"/>
            <a:ext cx="569952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📊 Metodologia: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22 Casos de Teste (trivial a extremo)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3 Algoritmos com comparação automática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Métricas: Tempo, CO₂, Exercício físico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Validação via pytest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Categorias: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Trivial: &lt;1km | Moderado: 1-5km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Desafiante: 5-20km | Extremo: múltiplas transferências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Execução: python -m app.test_cases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" descr=""/>
          <p:cNvPicPr/>
          <p:nvPr/>
        </p:nvPicPr>
        <p:blipFill>
          <a:blip r:embed="rId1"/>
          <a:stretch/>
        </p:blipFill>
        <p:spPr>
          <a:xfrm>
            <a:off x="5760000" y="1080000"/>
            <a:ext cx="2646360" cy="163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 descr=""/>
          <p:cNvPicPr/>
          <p:nvPr/>
        </p:nvPicPr>
        <p:blipFill>
          <a:blip r:embed="rId2"/>
          <a:stretch/>
        </p:blipFill>
        <p:spPr>
          <a:xfrm>
            <a:off x="5813280" y="2880000"/>
            <a:ext cx="2646360" cy="164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" descr=""/>
          <p:cNvPicPr/>
          <p:nvPr/>
        </p:nvPicPr>
        <p:blipFill>
          <a:blip r:embed="rId3"/>
          <a:stretch/>
        </p:blipFill>
        <p:spPr>
          <a:xfrm>
            <a:off x="5813280" y="4763880"/>
            <a:ext cx="2699640" cy="153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Comparação de Algoritmos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3"/>
          <p:cNvSpPr/>
          <p:nvPr/>
        </p:nvSpPr>
        <p:spPr>
          <a:xfrm>
            <a:off x="731520" y="1097280"/>
            <a:ext cx="7679520" cy="48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⚡ Tempo de Execução: A* &gt; ACO &gt; Dijkstra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Qualidade Garantida: Dijkstra &gt; ACO &gt; A*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📊 Cobertura Pareto: Dijkstra &gt; ACO ≈ A*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💡 Criatividade: ACO &gt; A* &gt; Dijkstra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📈 Escalabilidade: A* &gt; ACO &gt; Dijkstra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Recomendações: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Use Dijkstra para garantias de otimalidade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Use A* para tempo real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Use ACO para exploração criativa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5007960" y="1186920"/>
            <a:ext cx="3991680" cy="147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" descr=""/>
          <p:cNvPicPr/>
          <p:nvPr/>
        </p:nvPicPr>
        <p:blipFill>
          <a:blip r:embed="rId2"/>
          <a:stretch/>
        </p:blipFill>
        <p:spPr>
          <a:xfrm>
            <a:off x="4980600" y="3060000"/>
            <a:ext cx="4019040" cy="1475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" descr=""/>
          <p:cNvPicPr/>
          <p:nvPr/>
        </p:nvPicPr>
        <p:blipFill>
          <a:blip r:embed="rId3"/>
          <a:stretch/>
        </p:blipFill>
        <p:spPr>
          <a:xfrm>
            <a:off x="4952880" y="4985280"/>
            <a:ext cx="4046760" cy="1314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Exemplo de Resultados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360000" y="1097280"/>
            <a:ext cx="767952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Rota: Casa da Música → Casino da Póvoa de Varzim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Rota 1 (Rápida):    45 min | 850g CO₂ | 2.5km caminhada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Rota 2 (Ecológica): 58 min | 350g CO₂ | 5.2km caminhada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Rota 3 (Activa):    62 min | 400g CO₂ | 8.1km caminhada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Rota 4 (Balanceada):52 min | 550g CO₂ | 4.8km caminhada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⚡ Nenhuma rota é superior em todos os critérios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Decisão depende de prioridades do utilizador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Principais Realizações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457200" y="100584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Implementação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457200" y="1463040"/>
            <a:ext cx="3839040" cy="43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3 algoritmos funcionais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Integração GTFS completa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Grafo multimodal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22 casos de teste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Framework avaliação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5"/>
          <p:cNvSpPr/>
          <p:nvPr/>
        </p:nvSpPr>
        <p:spPr>
          <a:xfrm>
            <a:off x="4846320" y="1005840"/>
            <a:ext cx="38390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003366"/>
                </a:solidFill>
                <a:effectLst/>
                <a:uFillTx/>
                <a:latin typeface="Calibri"/>
              </a:rPr>
              <a:t>Inovação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4846320" y="1463040"/>
            <a:ext cx="3839040" cy="438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Fronteira Pareto real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Multi-critério genuíno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Dados reais (GTFS)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3 perspectivas diferentes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</a:pPr>
            <a:r>
              <a:rPr b="0" lang="en-US" sz="15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Interface amigável</a:t>
            </a:r>
            <a:endParaRPr b="0" lang="en-GB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Impacto Potencial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731520" y="1097280"/>
            <a:ext cx="7679520" cy="48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🚗 Reduzir emissões de carbono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   Oferecendo rotas ecológicas alternativas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⏱ Otimizar tempo de deslocação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   Através de roteamento inteligente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🏃 Combater sedentarismo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   Com opções que maximizam exercício físico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Sustentabilidade urbana e bem-estar pessoal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Desafios Encontrados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731520" y="1097280"/>
            <a:ext cx="7679520" cy="48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🔧 Técnicos: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Complexidade de multi-objetivo | Integração GTFS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📋 Metodológicos: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Métricas CO₂ consistentes | Tempos realistas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✓ Soluções Implementadas: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Dijkstra multi-label robusto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Validação cruzada entre algoritmos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Testes extensivos (22 casos)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Trabalho Futuro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3"/>
          <p:cNvSpPr/>
          <p:nvPr/>
        </p:nvSpPr>
        <p:spPr>
          <a:xfrm>
            <a:off x="731520" y="1097280"/>
            <a:ext cx="7679520" cy="48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🌍 Expansão Geográfica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Outras cidades + bike-sharing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🔬 Melhorias Algorítmicas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NSGA-II | Otimização paralela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🎨 Interface Utilizador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Aplicação web interativa | Mapas 3D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♻ Sustentabilidade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6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Impacto real | Dados de energia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Rectangle 1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2"/>
          <p:cNvSpPr/>
          <p:nvPr/>
        </p:nvSpPr>
        <p:spPr>
          <a:xfrm>
            <a:off x="457200" y="13716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Conclusões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3"/>
          <p:cNvSpPr/>
          <p:nvPr/>
        </p:nvSpPr>
        <p:spPr>
          <a:xfrm>
            <a:off x="731520" y="1097280"/>
            <a:ext cx="7679520" cy="484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✅ Sistema robusto de roteamento multimodal implementado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✅ Algoritmos multi-objetivo de vanguarda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✅ Integração com dados reais (GTFS + OSM)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✅ Fronteira Pareto rigorosa e validada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✅ Demonstração de Computação Inspirada na Natureza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</a:pPr>
            <a:r>
              <a:rPr b="0" lang="en-US" sz="1800" strike="noStrike" u="none">
                <a:solidFill>
                  <a:srgbClr val="505050"/>
                </a:solidFill>
                <a:effectLst/>
                <a:uFillTx/>
                <a:latin typeface="Calibri"/>
              </a:rPr>
              <a:t>   para mobilidade urbana sustentável</a:t>
            </a:r>
            <a:endParaRPr b="0" lang="en-GB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2"/>
          <p:cNvSpPr/>
          <p:nvPr/>
        </p:nvSpPr>
        <p:spPr>
          <a:xfrm>
            <a:off x="0" y="0"/>
            <a:ext cx="9142560" cy="8989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7"/>
          <p:cNvSpPr/>
          <p:nvPr/>
        </p:nvSpPr>
        <p:spPr>
          <a:xfrm>
            <a:off x="457200" y="137160"/>
            <a:ext cx="40914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Avaliação de Pares</a:t>
            </a:r>
            <a:endParaRPr b="0" lang="en-GB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8"/>
          <p:cNvSpPr/>
          <p:nvPr/>
        </p:nvSpPr>
        <p:spPr>
          <a:xfrm>
            <a:off x="600480" y="1194120"/>
            <a:ext cx="7679520" cy="186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992"/>
              </a:spcAft>
            </a:pPr>
            <a:r>
              <a:rPr b="1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PG11605 - Carlos da Mota Bergueira = 0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992"/>
              </a:spcAft>
            </a:pPr>
            <a:r>
              <a:rPr b="1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PG59999 - Diego Jefferson Mendes Silva = 0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992"/>
              </a:spcAft>
            </a:pPr>
            <a:r>
              <a:rPr b="1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PG42201 - Filipa Araújo Pereira = 0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992"/>
              </a:spcAft>
            </a:pPr>
            <a:r>
              <a:rPr b="1" lang="en-GB" sz="1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PG7942 - Rui Manuel Martins Marques Rodrigues = 0</a:t>
            </a:r>
            <a:endParaRPr b="0" lang="en-GB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83"/>
              </a:spcBef>
              <a:spcAft>
                <a:spcPts val="992"/>
              </a:spcAft>
            </a:pP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216000" y="2921400"/>
            <a:ext cx="8784000" cy="49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b="1" lang="en-GB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Pressuposto</a:t>
            </a:r>
            <a:r>
              <a:rPr b="0" lang="en-GB" sz="1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: deltas de avaliação podem ser negativos, nulos ou positivos e em cada grupo, a soma dos deltas deve ser sempre igual a 0.00, e, individualmente, nunca podem exceder um.</a:t>
            </a:r>
            <a:endParaRPr b="0" lang="en-GB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336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/>
          <p:nvPr/>
        </p:nvSpPr>
        <p:spPr>
          <a:xfrm>
            <a:off x="457200" y="182880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Obrigado!</a:t>
            </a:r>
            <a:endParaRPr b="0" lang="en-GB" sz="5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2"/>
          <p:cNvSpPr/>
          <p:nvPr/>
        </p:nvSpPr>
        <p:spPr>
          <a:xfrm>
            <a:off x="457200" y="3383280"/>
            <a:ext cx="8228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Questões?</a:t>
            </a:r>
            <a:endParaRPr b="0" lang="en-GB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3"/>
          <p:cNvSpPr/>
          <p:nvPr/>
        </p:nvSpPr>
        <p:spPr>
          <a:xfrm>
            <a:off x="457200" y="5029200"/>
            <a:ext cx="822816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Repositório: github.com/MIA-CDFR/CIN_GRUPO6</a:t>
            </a:r>
            <a:br>
              <a:rPr sz="1600"/>
            </a:b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Grupo 6 - CIN 2025 - Universidade do Minho</a:t>
            </a:r>
            <a:endParaRPr b="0" lang="en-GB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Application>LibreOffice/25.8.3.2$Windows_X86_64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2025-12-24T03:11:50Z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