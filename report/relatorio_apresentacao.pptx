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Sistema de Roteamento Multimodal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66CC"/>
                </a:solidFill>
              </a:defRPr>
            </a:pPr>
            <a:r>
              <a:t>Otimização Multi-Objetivo para a Área Metropolitana do Porto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Grupo 6 - CIN 2025</a:t>
            </a:r>
            <a:br/>
            <a:r>
              <a:t>Universidade do Minho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Visão Geral do Projeto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Arquitetura e Tecnologia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Algoritmos Implementados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Dados e Implementação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Avaliação e Testes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Resultados e Conclusões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Visão Geral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🎯 Objetivo: Motor de roteamento multimodal inteligente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Critérios de Otimização: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⏱  Tempo de viagem (minimizar)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♻  Emissões de CO₂ (minimizar)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🚶  Exercício físico (maximizar)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📊 Resultado: Fronteira de Pareto com múltiplas rotas eficientes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Características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✓ Otimização Multi-Objetivo com fronteira Pareto rigorosa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✓ Dados Reais: GTFS (Metro + STCP) + OpenStreetMap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✓ 3 Algoritmos Avançados: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A* Heurístico (rápido, 2-5s)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Dijkstra Multi-Label (exaustivo, 100% garantido)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ACO Estocástico (criativo, 10-15s)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✓ Análise Geográfica com ruas reais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✓ 22 Casos de Teste (trivial a extremo)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Python 3.12+ - Linguagem principal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NetworkX 3.x - Estrutura de grafos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OSMnx 1.x - Dados geográficos (OpenStreetMap)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FastAPI 0.100+ - API REST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Pandas 2.x - Processamento GTFS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Folium 0.14+ - Visualização de mapas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NumPy 1.24+ - Cálculos numéricos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Poetry 1.5+ - Gestão de dependências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Arquitetura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Componentes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services/ - Lógica de negócio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utils/ - Operações auxiliares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models/ - Estruturas de dados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algoritms/ - Implementações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graph.py - Rede multimodal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solution.py - Classe de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a_star.py - Heurístico rápido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dijkstra.py - Exaustivo garantido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aco.py - Estocástico criativo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Cada retorna Fronteira Pareto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Comparação automática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Validação cruzada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A* Multi-Objetivo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Tipo: Algoritmo heurístico guloso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Complexidade: O(E log 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Tempo: 2-5 segundos por consulta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Características: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✓ Utiliza heurísticas para guiar a busca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✓ Prioriza nós promissores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✓ Encontra rotas de boa qualidade rapidamente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✗ Não garante Fronteira Pareto completa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Ideal para: Aplicações em tempo real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Dijkstra Multi-Label (Exaustivo)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Tipo: Algoritmo de rótulo-setting multi-objetivo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Complexidade: O(E × L log V) onde L = nº de etiquetas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Tempo: 30-60 segundos por consulta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Características: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✓ Mantém múltiplas etiquetas por nó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✓ Propaga todas as soluções não-dominadas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✓ Remove soluções dominadas iterativamente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✓ GARANTE Fronteira de Pareto completa e exata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Ideal para: Gold standard de otimização multi-objetivo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ACO (Ant Colony Optimization)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Tipo: Algoritmo estocástico inspirado na natureza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Complexidade: O(I × A × E) - I iterações, A formigas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Tempo: 10-15 segundos por consulta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Características: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✓ Simula comportamento coletivo de formigas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✓ Cada formiga constrói uma solução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✓ Atualiza feromónios baseado em qualidade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✗ Heurístico (pode não encontrar todas as soluções)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Ideal para: Exploração criativa e inovação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Fontes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GTFS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🚇 Metro do Porto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• 95+ paragens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• 6 linhas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• Horários atualizados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🚌 STCP (Autocarro)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• 600+ paragens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• Múltiplas linhas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OpenStreetMap (OSM)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🗺 Rede viária completa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🚶 Caminhos pedonais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⏱ Velocidades estimadas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📍 Coordenadas geográficas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Cálculos Derivados: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• CO₂, transferências, caminhada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Exemplo de Uso - Python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from app.services.graph import GraphRoute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from app.services.algoritms.a_star import optimized_multi_objective_routing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graph = GraphRoute('Casa da Musica', 'Casino da Póvoa')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routes = optimized_multi_objective_routing(...)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for rota in routes: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print(f'Tempo: {rota.total_time} min')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print(f'CO2: {rota.total_co2}g')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print(f'Caminhada: {rota.total_walk_km}km')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Framework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📊 Metodologia: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22 Casos de Teste (trivial a extremo)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3 Algoritmos com comparação automática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Métricas: Tempo, CO₂, Exercício físico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Validação via pytest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Categorias: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Trivial: &lt;1km | Moderado: 1-5km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Desafiante: 5-20km | Extremo: múltiplas transferências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Execução: python -m app.test_cases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Comparação de Algoritmos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⚡ Tempo de Execução: A* &gt; ACO &gt; Dijkstra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✓ Qualidade Garantida: Dijkstra &gt; ACO &gt; A*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📊 Cobertura Pareto: Dijkstra &gt; ACO ≈ A*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💡 Criatividade: ACO &gt; A* &gt; Dijkstra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📈 Escalabilidade: A* &gt; ACO &gt; Dijkstra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Recomendações: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Use Dijkstra para garantias de otimalidade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Use A* para tempo real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Use ACO para exploração criativa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Exemplo de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Rota: Casa da Música → Casino da Póvoa de Varzim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Rota 1 (Rápida):    45 min | 850g CO₂ | 2.5km caminhada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Rota 2 (Ecológica): 58 min | 350g CO₂ | 5.2km caminhada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Rota 3 (Activa):    62 min | 400g CO₂ | 8.1km caminhada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Rota 4 (Balanceada):52 min | 550g CO₂ | 4.8km caminhada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⚡ Nenhuma rota é superior em todos os critérios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✓ Decisão depende de prioridades do utilizador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Principais Realizações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Implementação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✓ 3 algoritmos funcionais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✓ Integração GTFS completa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✓ Grafo multimodal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✓ 22 casos de teste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✓ Framework avaliação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✓ Fronteira Pareto real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✓ Multi-critério genuíno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✓ Dados reais (GTFS)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✓ 3 perspectivas diferentes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505050"/>
                </a:solidFill>
              </a:defRPr>
            </a:pPr>
            <a:r>
              <a:t>✓ Interface amigável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Impacto Potencial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🚗 Reduzir emissões de carbono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Oferecendo rotas ecológicas alternativas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⏱ Otimizar tempo de deslocação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Através de roteamento inteligente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🏃 Combater sedentarismo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Com opções que maximizam exercício físico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Sustentabilidade urbana e bem-estar pessoal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Desafios Encontrados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🔧 Técnicos: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Complexidade de multi-objetivo | Integração GTFS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📋 Metodológicos: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Métricas CO₂ consistentes | Tempos realistas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✓ Soluções Implementadas: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Dijkstra multi-label robusto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Validação cruzada entre algoritmos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Testes extensivos (22 casos)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Trabalho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🌍 Expansão Geográfica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Outras cidades + bike-sharing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🔬 Melhorias Algorítmicas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NSGA-II | Otimização paralela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🎨 Interface Utilizador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Aplicação web interativa | Mapas 3D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♻ Sustentabilidade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Impacto real | Dados de energia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✅ Sistema robusto de roteamento multimodal implementado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✅ Algoritmos multi-objetivo de vanguarda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✅ Integração com dados reais (GTFS + OSM)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✅ Fronteira Pareto rigorosa e validada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✅ Demonstração de Computação Inspirada na Natureza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para mobilidade urbana sustentável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66CC"/>
                </a:solidFill>
              </a:defRPr>
            </a:pPr>
            <a:r>
              <a:t>Questões?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Repositório: github.com/MIA-CDFR/CIN_GRUPO6</a:t>
            </a:r>
            <a:br/>
            <a:r>
              <a:t>Grupo 6 - CIN 2025 - Universidade do Minho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